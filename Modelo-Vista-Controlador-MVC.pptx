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MuseoModerno Medium" panose="020B0604020202020204" charset="0"/>
      <p:regular r:id="rId9"/>
    </p:embeddedFont>
    <p:embeddedFont>
      <p:font typeface="Source Sans 3" panose="020B0604020202020204" charset="0"/>
      <p:regular r:id="rId10"/>
    </p:embeddedFont>
  </p:embeddedFontLst>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6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726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23336"/>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Explicación del Patrón Modelo-Vista-Controlador (MVC)</a:t>
            </a:r>
            <a:endParaRPr lang="en-US" sz="4450" dirty="0"/>
          </a:p>
        </p:txBody>
      </p:sp>
      <p:sp>
        <p:nvSpPr>
          <p:cNvPr id="4" name="Text 1"/>
          <p:cNvSpPr/>
          <p:nvPr/>
        </p:nvSpPr>
        <p:spPr>
          <a:xfrm>
            <a:off x="6280190" y="328983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patrón Modelo-Vista-Controlador (MVC) es una arquitectura de software que separa una aplicación en tres componentes principales: Modelo, Vista y Controlador. Esto permite un desarrollo más ordenado, facilita el mantenimiento del código y promueve la reutilización de componentes.</a:t>
            </a:r>
            <a:endParaRPr lang="en-US" sz="1750" dirty="0"/>
          </a:p>
        </p:txBody>
      </p:sp>
      <p:sp>
        <p:nvSpPr>
          <p:cNvPr id="5" name="Text 1">
            <a:extLst>
              <a:ext uri="{FF2B5EF4-FFF2-40B4-BE49-F238E27FC236}">
                <a16:creationId xmlns:a16="http://schemas.microsoft.com/office/drawing/2014/main" id="{C4A952C2-564B-2A9F-5877-CD2010B15F69}"/>
              </a:ext>
            </a:extLst>
          </p:cNvPr>
          <p:cNvSpPr/>
          <p:nvPr/>
        </p:nvSpPr>
        <p:spPr>
          <a:xfrm>
            <a:off x="6280189" y="5734407"/>
            <a:ext cx="7556421" cy="1985929"/>
          </a:xfrm>
          <a:prstGeom prst="rect">
            <a:avLst/>
          </a:prstGeom>
          <a:noFill/>
          <a:ln/>
        </p:spPr>
        <p:txBody>
          <a:bodyPr wrap="square" lIns="0" tIns="0" rIns="0" bIns="0" rtlCol="0" anchor="t"/>
          <a:lstStyle/>
          <a:p>
            <a:pPr marL="0" indent="0">
              <a:lnSpc>
                <a:spcPts val="2850"/>
              </a:lnSpc>
              <a:buNone/>
            </a:pPr>
            <a:r>
              <a:rPr lang="es-PE" sz="1750" dirty="0">
                <a:solidFill>
                  <a:srgbClr val="2B4150"/>
                </a:solidFill>
                <a:latin typeface="Source Sans 3" pitchFamily="34" charset="0"/>
                <a:ea typeface="Source Sans 3" pitchFamily="34" charset="-122"/>
                <a:cs typeface="Source Sans 3" pitchFamily="34" charset="-120"/>
              </a:rPr>
              <a:t>Integrantes</a:t>
            </a:r>
          </a:p>
          <a:p>
            <a:pPr marL="285750" indent="-285750">
              <a:lnSpc>
                <a:spcPts val="2850"/>
              </a:lnSpc>
              <a:buFontTx/>
              <a:buChar char="-"/>
            </a:pPr>
            <a:r>
              <a:rPr lang="fr-FR" sz="1750" dirty="0">
                <a:solidFill>
                  <a:srgbClr val="2B4150"/>
                </a:solidFill>
                <a:latin typeface="Source Sans 3" pitchFamily="34" charset="0"/>
                <a:ea typeface="Source Sans 3" pitchFamily="34" charset="-122"/>
                <a:cs typeface="Source Sans 3" pitchFamily="34" charset="-120"/>
              </a:rPr>
              <a:t>De la Cruz Leon Diego</a:t>
            </a:r>
            <a:endParaRPr lang="es-PE" sz="1750" dirty="0">
              <a:solidFill>
                <a:srgbClr val="2B4150"/>
              </a:solidFill>
              <a:latin typeface="Source Sans 3" pitchFamily="34" charset="0"/>
              <a:ea typeface="Source Sans 3" pitchFamily="34" charset="-122"/>
              <a:cs typeface="Source Sans 3" pitchFamily="34" charset="-120"/>
            </a:endParaRPr>
          </a:p>
          <a:p>
            <a:pPr marL="285750" indent="-285750">
              <a:lnSpc>
                <a:spcPts val="2850"/>
              </a:lnSpc>
              <a:buFontTx/>
              <a:buChar char="-"/>
            </a:pPr>
            <a:r>
              <a:rPr lang="es-PE" sz="1750" dirty="0">
                <a:solidFill>
                  <a:srgbClr val="2B4150"/>
                </a:solidFill>
                <a:latin typeface="Source Sans 3" pitchFamily="34" charset="0"/>
                <a:ea typeface="Source Sans 3" pitchFamily="34" charset="-122"/>
                <a:cs typeface="Source Sans 3" pitchFamily="34" charset="-120"/>
              </a:rPr>
              <a:t>Del Carpio Salvador Olger</a:t>
            </a:r>
          </a:p>
          <a:p>
            <a:pPr marL="285750" indent="-285750">
              <a:lnSpc>
                <a:spcPts val="2850"/>
              </a:lnSpc>
              <a:buFontTx/>
              <a:buChar char="-"/>
            </a:pPr>
            <a:r>
              <a:rPr lang="es-PE" sz="1750" dirty="0">
                <a:solidFill>
                  <a:srgbClr val="2B4150"/>
                </a:solidFill>
                <a:latin typeface="Source Sans 3" pitchFamily="34" charset="0"/>
                <a:ea typeface="Source Sans 3" pitchFamily="34" charset="-122"/>
                <a:cs typeface="Source Sans 3" pitchFamily="34" charset="-120"/>
              </a:rPr>
              <a:t>Hidalgo </a:t>
            </a:r>
            <a:r>
              <a:rPr lang="es-PE" sz="1750" dirty="0" err="1">
                <a:solidFill>
                  <a:srgbClr val="2B4150"/>
                </a:solidFill>
                <a:latin typeface="Source Sans 3" pitchFamily="34" charset="0"/>
                <a:ea typeface="Source Sans 3" pitchFamily="34" charset="-122"/>
                <a:cs typeface="Source Sans 3" pitchFamily="34" charset="-120"/>
              </a:rPr>
              <a:t>Canasa</a:t>
            </a:r>
            <a:r>
              <a:rPr lang="es-PE" sz="1750" dirty="0">
                <a:solidFill>
                  <a:srgbClr val="2B4150"/>
                </a:solidFill>
                <a:latin typeface="Source Sans 3" pitchFamily="34" charset="0"/>
                <a:ea typeface="Source Sans 3" pitchFamily="34" charset="-122"/>
                <a:cs typeface="Source Sans 3" pitchFamily="34" charset="-120"/>
              </a:rPr>
              <a:t> </a:t>
            </a:r>
            <a:r>
              <a:rPr lang="es-PE" sz="1750" dirty="0" err="1">
                <a:solidFill>
                  <a:srgbClr val="2B4150"/>
                </a:solidFill>
                <a:latin typeface="Source Sans 3" pitchFamily="34" charset="0"/>
                <a:ea typeface="Source Sans 3" pitchFamily="34" charset="-122"/>
                <a:cs typeface="Source Sans 3" pitchFamily="34" charset="-120"/>
              </a:rPr>
              <a:t>Yosselyn</a:t>
            </a:r>
            <a:r>
              <a:rPr lang="es-PE" sz="1750" dirty="0">
                <a:solidFill>
                  <a:srgbClr val="2B4150"/>
                </a:solidFill>
                <a:latin typeface="Source Sans 3" pitchFamily="34" charset="0"/>
                <a:ea typeface="Source Sans 3" pitchFamily="34" charset="-122"/>
                <a:cs typeface="Source Sans 3" pitchFamily="34" charset="-120"/>
              </a:rPr>
              <a:t> </a:t>
            </a:r>
          </a:p>
          <a:p>
            <a:pPr marL="285750" indent="-285750">
              <a:lnSpc>
                <a:spcPts val="2850"/>
              </a:lnSpc>
              <a:buFontTx/>
              <a:buChar char="-"/>
            </a:pPr>
            <a:r>
              <a:rPr lang="es-PE" sz="1750" dirty="0">
                <a:solidFill>
                  <a:srgbClr val="2B4150"/>
                </a:solidFill>
                <a:latin typeface="Source Sans 3" pitchFamily="34" charset="0"/>
                <a:ea typeface="Source Sans 3" pitchFamily="34" charset="-122"/>
                <a:cs typeface="Source Sans 3" pitchFamily="34" charset="-120"/>
              </a:rPr>
              <a:t>Portal </a:t>
            </a:r>
            <a:r>
              <a:rPr lang="es-PE" sz="1750" dirty="0" err="1">
                <a:solidFill>
                  <a:srgbClr val="2B4150"/>
                </a:solidFill>
                <a:latin typeface="Source Sans 3" pitchFamily="34" charset="0"/>
                <a:ea typeface="Source Sans 3" pitchFamily="34" charset="-122"/>
                <a:cs typeface="Source Sans 3" pitchFamily="34" charset="-120"/>
              </a:rPr>
              <a:t>Anticona</a:t>
            </a:r>
            <a:r>
              <a:rPr lang="es-PE" sz="1750" dirty="0">
                <a:solidFill>
                  <a:srgbClr val="2B4150"/>
                </a:solidFill>
                <a:latin typeface="Source Sans 3" pitchFamily="34" charset="0"/>
                <a:ea typeface="Source Sans 3" pitchFamily="34" charset="-122"/>
                <a:cs typeface="Source Sans 3" pitchFamily="34" charset="-120"/>
              </a:rPr>
              <a:t> Angel</a:t>
            </a:r>
          </a:p>
          <a:p>
            <a:pPr marL="285750" indent="-285750">
              <a:lnSpc>
                <a:spcPts val="2850"/>
              </a:lnSpc>
              <a:buFontTx/>
              <a:buChar char="-"/>
            </a:pPr>
            <a:endParaRPr lang="es-PE" sz="1750" dirty="0">
              <a:solidFill>
                <a:srgbClr val="2B4150"/>
              </a:solidFill>
              <a:latin typeface="Source Sans 3" pitchFamily="34" charset="0"/>
              <a:ea typeface="Source Sans 3" pitchFamily="34" charset="-122"/>
              <a:cs typeface="Source Sans 3"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19657"/>
            <a:ext cx="5426750" cy="566976"/>
          </a:xfrm>
          <a:prstGeom prst="rect">
            <a:avLst/>
          </a:prstGeom>
          <a:noFill/>
          <a:ln/>
        </p:spPr>
        <p:txBody>
          <a:bodyPr wrap="none" lIns="0" tIns="0" rIns="0" bIns="0" rtlCol="0" anchor="t"/>
          <a:lstStyle/>
          <a:p>
            <a:pPr marL="0" indent="0" algn="l">
              <a:lnSpc>
                <a:spcPts val="4450"/>
              </a:lnSpc>
              <a:buNone/>
            </a:pPr>
            <a:r>
              <a:rPr lang="en-US" sz="3550" dirty="0">
                <a:solidFill>
                  <a:srgbClr val="124E73"/>
                </a:solidFill>
                <a:latin typeface="MuseoModerno Medium" pitchFamily="34" charset="0"/>
                <a:ea typeface="MuseoModerno Medium" pitchFamily="34" charset="-122"/>
                <a:cs typeface="MuseoModerno Medium" pitchFamily="34" charset="-120"/>
              </a:rPr>
              <a:t>1. Componentes del MVC</a:t>
            </a:r>
            <a:endParaRPr lang="en-US" sz="3550" dirty="0"/>
          </a:p>
        </p:txBody>
      </p:sp>
      <p:sp>
        <p:nvSpPr>
          <p:cNvPr id="4" name="Text 1"/>
          <p:cNvSpPr/>
          <p:nvPr/>
        </p:nvSpPr>
        <p:spPr>
          <a:xfrm>
            <a:off x="793790" y="2677358"/>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a) Modelo</a:t>
            </a:r>
            <a:endParaRPr lang="en-US" sz="2650" dirty="0"/>
          </a:p>
        </p:txBody>
      </p:sp>
      <p:sp>
        <p:nvSpPr>
          <p:cNvPr id="5" name="Text 2"/>
          <p:cNvSpPr/>
          <p:nvPr/>
        </p:nvSpPr>
        <p:spPr>
          <a:xfrm>
            <a:off x="793790" y="3442811"/>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Modelo representa la lógica de negocio y el acceso a los datos. Es el encargado de gestionar la información, conectarse a la base de datos y realizar las operaciones necesarias.</a:t>
            </a:r>
            <a:endParaRPr lang="en-US" sz="1750" dirty="0"/>
          </a:p>
        </p:txBody>
      </p:sp>
      <p:sp>
        <p:nvSpPr>
          <p:cNvPr id="6" name="Text 3"/>
          <p:cNvSpPr/>
          <p:nvPr/>
        </p:nvSpPr>
        <p:spPr>
          <a:xfrm>
            <a:off x="793790" y="4786670"/>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En este proyecto, el modelo está representado por los archivos:</a:t>
            </a:r>
            <a:endParaRPr lang="en-US" sz="1750" dirty="0"/>
          </a:p>
        </p:txBody>
      </p:sp>
      <p:sp>
        <p:nvSpPr>
          <p:cNvPr id="7" name="Text 4"/>
          <p:cNvSpPr/>
          <p:nvPr/>
        </p:nvSpPr>
        <p:spPr>
          <a:xfrm>
            <a:off x="793790" y="5404723"/>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conexion.php – Gestiona la conexión con la base de datos MySQL.</a:t>
            </a:r>
            <a:endParaRPr lang="en-US" sz="1750" dirty="0"/>
          </a:p>
        </p:txBody>
      </p:sp>
      <p:sp>
        <p:nvSpPr>
          <p:cNvPr id="8" name="Text 5"/>
          <p:cNvSpPr/>
          <p:nvPr/>
        </p:nvSpPr>
        <p:spPr>
          <a:xfrm>
            <a:off x="793790" y="5846921"/>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usuario.php – Contiene la clase Usuario que maneja la validación de login.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36195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b) Vista</a:t>
            </a:r>
            <a:endParaRPr lang="en-US" sz="2650" dirty="0"/>
          </a:p>
        </p:txBody>
      </p:sp>
      <p:sp>
        <p:nvSpPr>
          <p:cNvPr id="4" name="Text 1"/>
          <p:cNvSpPr/>
          <p:nvPr/>
        </p:nvSpPr>
        <p:spPr>
          <a:xfrm>
            <a:off x="6280190" y="2127409"/>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La Vista es la interfaz del usuario. Su función es mostrar la información proveniente del Modelo, y también recibir las acciones del usuario (como ingresar datos en formularios).</a:t>
            </a:r>
            <a:endParaRPr lang="en-US" sz="1750" dirty="0"/>
          </a:p>
        </p:txBody>
      </p:sp>
      <p:sp>
        <p:nvSpPr>
          <p:cNvPr id="5" name="Text 2"/>
          <p:cNvSpPr/>
          <p:nvPr/>
        </p:nvSpPr>
        <p:spPr>
          <a:xfrm>
            <a:off x="6280190" y="3471267"/>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En este caso, la vista está representada por archivos como:</a:t>
            </a:r>
            <a:endParaRPr lang="en-US" sz="1750" dirty="0"/>
          </a:p>
        </p:txBody>
      </p:sp>
      <p:sp>
        <p:nvSpPr>
          <p:cNvPr id="6" name="Text 3"/>
          <p:cNvSpPr/>
          <p:nvPr/>
        </p:nvSpPr>
        <p:spPr>
          <a:xfrm>
            <a:off x="6280190" y="4089321"/>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login.php – Formulario donde el usuario ingresa su usuario y contraseña.</a:t>
            </a:r>
            <a:endParaRPr lang="en-US" sz="1750" dirty="0"/>
          </a:p>
        </p:txBody>
      </p:sp>
      <p:sp>
        <p:nvSpPr>
          <p:cNvPr id="7" name="Text 4"/>
          <p:cNvSpPr/>
          <p:nvPr/>
        </p:nvSpPr>
        <p:spPr>
          <a:xfrm>
            <a:off x="6280190" y="4531519"/>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panel_admin.php – Pantalla mostrada tras un inicio de sesión exitoso (rol administrador).</a:t>
            </a:r>
            <a:endParaRPr lang="en-US" sz="1750" dirty="0"/>
          </a:p>
        </p:txBody>
      </p:sp>
      <p:sp>
        <p:nvSpPr>
          <p:cNvPr id="8" name="Text 5"/>
          <p:cNvSpPr/>
          <p:nvPr/>
        </p:nvSpPr>
        <p:spPr>
          <a:xfrm>
            <a:off x="6280190" y="5336619"/>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panel_profesor.php – Pantalla mostrada tras un inicio de sesión exitoso (rol profesor).</a:t>
            </a:r>
            <a:endParaRPr lang="en-US" sz="1750" dirty="0"/>
          </a:p>
        </p:txBody>
      </p:sp>
      <p:sp>
        <p:nvSpPr>
          <p:cNvPr id="9" name="Text 6"/>
          <p:cNvSpPr/>
          <p:nvPr/>
        </p:nvSpPr>
        <p:spPr>
          <a:xfrm>
            <a:off x="6280190" y="6141720"/>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panel_alumno.php – Pantalla mostrada tras un inicio de sesión exitoso (rol alumno).</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83055"/>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24E73"/>
                </a:solidFill>
                <a:latin typeface="MuseoModerno Medium" pitchFamily="34" charset="0"/>
                <a:ea typeface="MuseoModerno Medium" pitchFamily="34" charset="-122"/>
                <a:cs typeface="MuseoModerno Medium" pitchFamily="34" charset="-120"/>
              </a:rPr>
              <a:t>c) Controlador</a:t>
            </a:r>
            <a:endParaRPr lang="en-US" sz="2650" dirty="0"/>
          </a:p>
        </p:txBody>
      </p:sp>
      <p:sp>
        <p:nvSpPr>
          <p:cNvPr id="4" name="Text 1"/>
          <p:cNvSpPr/>
          <p:nvPr/>
        </p:nvSpPr>
        <p:spPr>
          <a:xfrm>
            <a:off x="793790" y="234850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Controlador actúa como intermediario entre el Modelo y la Vista. Recibe las peticiones del usuario desde la Vista, procesa la información mediante el Modelo y finalmente devuelve una respuesta adecuada.</a:t>
            </a:r>
            <a:endParaRPr lang="en-US" sz="1750" dirty="0"/>
          </a:p>
        </p:txBody>
      </p:sp>
      <p:sp>
        <p:nvSpPr>
          <p:cNvPr id="5" name="Text 2"/>
          <p:cNvSpPr/>
          <p:nvPr/>
        </p:nvSpPr>
        <p:spPr>
          <a:xfrm>
            <a:off x="793790" y="3692366"/>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En este proyecto, el controlador es el archivo:</a:t>
            </a:r>
            <a:endParaRPr lang="en-US" sz="1750" dirty="0"/>
          </a:p>
        </p:txBody>
      </p:sp>
      <p:sp>
        <p:nvSpPr>
          <p:cNvPr id="6" name="Text 3"/>
          <p:cNvSpPr/>
          <p:nvPr/>
        </p:nvSpPr>
        <p:spPr>
          <a:xfrm>
            <a:off x="793790" y="4310420"/>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login.php – Recibe los datos del formulario, valida las credenciales y redirige al panel correspondiente según el rol.</a:t>
            </a:r>
            <a:endParaRPr lang="en-US" sz="1750" dirty="0"/>
          </a:p>
        </p:txBody>
      </p:sp>
      <p:sp>
        <p:nvSpPr>
          <p:cNvPr id="7" name="Text 4"/>
          <p:cNvSpPr/>
          <p:nvPr/>
        </p:nvSpPr>
        <p:spPr>
          <a:xfrm>
            <a:off x="793790" y="5115520"/>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logout.php – Cierra la sesión del usuario y redirige al formulario de inicio de sesión.</a:t>
            </a:r>
            <a:endParaRPr lang="en-US" sz="1750" dirty="0"/>
          </a:p>
        </p:txBody>
      </p:sp>
      <p:sp>
        <p:nvSpPr>
          <p:cNvPr id="8" name="Text 5"/>
          <p:cNvSpPr/>
          <p:nvPr/>
        </p:nvSpPr>
        <p:spPr>
          <a:xfrm>
            <a:off x="793790" y="5920621"/>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ver_usuarios.php – Obtiene la lista de usuarios desde el modelo y la muestra en una vista.</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31081"/>
            <a:ext cx="6651665" cy="566976"/>
          </a:xfrm>
          <a:prstGeom prst="rect">
            <a:avLst/>
          </a:prstGeom>
          <a:noFill/>
          <a:ln/>
        </p:spPr>
        <p:txBody>
          <a:bodyPr wrap="none" lIns="0" tIns="0" rIns="0" bIns="0" rtlCol="0" anchor="t"/>
          <a:lstStyle/>
          <a:p>
            <a:pPr marL="0" indent="0" algn="l">
              <a:lnSpc>
                <a:spcPts val="4450"/>
              </a:lnSpc>
              <a:buNone/>
            </a:pPr>
            <a:r>
              <a:rPr lang="en-US" sz="3550" dirty="0">
                <a:solidFill>
                  <a:srgbClr val="124E73"/>
                </a:solidFill>
                <a:latin typeface="MuseoModerno Medium" pitchFamily="34" charset="0"/>
                <a:ea typeface="MuseoModerno Medium" pitchFamily="34" charset="-122"/>
                <a:cs typeface="MuseoModerno Medium" pitchFamily="34" charset="-120"/>
              </a:rPr>
              <a:t>2. Flujo del MVC en el Proyecto</a:t>
            </a:r>
            <a:endParaRPr lang="en-US" sz="3550" dirty="0"/>
          </a:p>
        </p:txBody>
      </p:sp>
      <p:sp>
        <p:nvSpPr>
          <p:cNvPr id="3" name="Text 1"/>
          <p:cNvSpPr/>
          <p:nvPr/>
        </p:nvSpPr>
        <p:spPr>
          <a:xfrm>
            <a:off x="793790"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01</a:t>
            </a:r>
            <a:endParaRPr lang="en-US" sz="1750" dirty="0"/>
          </a:p>
        </p:txBody>
      </p:sp>
      <p:sp>
        <p:nvSpPr>
          <p:cNvPr id="4" name="Shape 2"/>
          <p:cNvSpPr/>
          <p:nvPr/>
        </p:nvSpPr>
        <p:spPr>
          <a:xfrm>
            <a:off x="793790" y="2406729"/>
            <a:ext cx="4196358" cy="30480"/>
          </a:xfrm>
          <a:prstGeom prst="rect">
            <a:avLst/>
          </a:prstGeom>
          <a:solidFill>
            <a:srgbClr val="325F7B"/>
          </a:solidFill>
          <a:ln/>
        </p:spPr>
      </p:sp>
      <p:sp>
        <p:nvSpPr>
          <p:cNvPr id="5" name="Text 3"/>
          <p:cNvSpPr/>
          <p:nvPr/>
        </p:nvSpPr>
        <p:spPr>
          <a:xfrm>
            <a:off x="793790" y="2581037"/>
            <a:ext cx="3405068"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Usuario accede a la Vista</a:t>
            </a:r>
            <a:endParaRPr lang="en-US" sz="2200" dirty="0"/>
          </a:p>
        </p:txBody>
      </p:sp>
      <p:sp>
        <p:nvSpPr>
          <p:cNvPr id="6" name="Text 4"/>
          <p:cNvSpPr/>
          <p:nvPr/>
        </p:nvSpPr>
        <p:spPr>
          <a:xfrm>
            <a:off x="793790" y="3071455"/>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usuario accede a la Vista (login.php) e ingresa su usuario y contraseña.</a:t>
            </a:r>
            <a:endParaRPr lang="en-US" sz="1750" dirty="0"/>
          </a:p>
        </p:txBody>
      </p:sp>
      <p:sp>
        <p:nvSpPr>
          <p:cNvPr id="7" name="Text 5"/>
          <p:cNvSpPr/>
          <p:nvPr/>
        </p:nvSpPr>
        <p:spPr>
          <a:xfrm>
            <a:off x="5216962"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02</a:t>
            </a:r>
            <a:endParaRPr lang="en-US" sz="1750" dirty="0"/>
          </a:p>
        </p:txBody>
      </p:sp>
      <p:sp>
        <p:nvSpPr>
          <p:cNvPr id="8" name="Shape 6"/>
          <p:cNvSpPr/>
          <p:nvPr/>
        </p:nvSpPr>
        <p:spPr>
          <a:xfrm>
            <a:off x="5216962" y="2406729"/>
            <a:ext cx="4196358" cy="30480"/>
          </a:xfrm>
          <a:prstGeom prst="rect">
            <a:avLst/>
          </a:prstGeom>
          <a:solidFill>
            <a:srgbClr val="325F7B"/>
          </a:solidFill>
          <a:ln/>
        </p:spPr>
      </p:sp>
      <p:sp>
        <p:nvSpPr>
          <p:cNvPr id="9" name="Text 7"/>
          <p:cNvSpPr/>
          <p:nvPr/>
        </p:nvSpPr>
        <p:spPr>
          <a:xfrm>
            <a:off x="5216962" y="2581037"/>
            <a:ext cx="4196358" cy="708660"/>
          </a:xfrm>
          <a:prstGeom prst="rect">
            <a:avLst/>
          </a:prstGeom>
          <a:noFill/>
          <a:ln/>
        </p:spPr>
        <p:txBody>
          <a:bodyPr wrap="squar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Vista envía datos al Controlador</a:t>
            </a:r>
            <a:endParaRPr lang="en-US" sz="2200" dirty="0"/>
          </a:p>
        </p:txBody>
      </p:sp>
      <p:sp>
        <p:nvSpPr>
          <p:cNvPr id="10" name="Text 8"/>
          <p:cNvSpPr/>
          <p:nvPr/>
        </p:nvSpPr>
        <p:spPr>
          <a:xfrm>
            <a:off x="5216962" y="3425785"/>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La Vista envía los datos al Controlador (Controlador/login.php).</a:t>
            </a:r>
            <a:endParaRPr lang="en-US" sz="1750" dirty="0"/>
          </a:p>
        </p:txBody>
      </p:sp>
      <p:sp>
        <p:nvSpPr>
          <p:cNvPr id="11" name="Text 9"/>
          <p:cNvSpPr/>
          <p:nvPr/>
        </p:nvSpPr>
        <p:spPr>
          <a:xfrm>
            <a:off x="9640133"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03</a:t>
            </a:r>
            <a:endParaRPr lang="en-US" sz="1750" dirty="0"/>
          </a:p>
        </p:txBody>
      </p:sp>
      <p:sp>
        <p:nvSpPr>
          <p:cNvPr id="12" name="Shape 10"/>
          <p:cNvSpPr/>
          <p:nvPr/>
        </p:nvSpPr>
        <p:spPr>
          <a:xfrm>
            <a:off x="9640133" y="2406729"/>
            <a:ext cx="4196358" cy="30480"/>
          </a:xfrm>
          <a:prstGeom prst="rect">
            <a:avLst/>
          </a:prstGeom>
          <a:solidFill>
            <a:srgbClr val="325F7B"/>
          </a:solidFill>
          <a:ln/>
        </p:spPr>
      </p:sp>
      <p:sp>
        <p:nvSpPr>
          <p:cNvPr id="13" name="Text 11"/>
          <p:cNvSpPr/>
          <p:nvPr/>
        </p:nvSpPr>
        <p:spPr>
          <a:xfrm>
            <a:off x="9640133" y="2581037"/>
            <a:ext cx="3967282"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Controlador utiliza el Modelo</a:t>
            </a:r>
            <a:endParaRPr lang="en-US" sz="2200" dirty="0"/>
          </a:p>
        </p:txBody>
      </p:sp>
      <p:sp>
        <p:nvSpPr>
          <p:cNvPr id="14" name="Text 12"/>
          <p:cNvSpPr/>
          <p:nvPr/>
        </p:nvSpPr>
        <p:spPr>
          <a:xfrm>
            <a:off x="9640133" y="3071455"/>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Controlador utiliza el Modelo (Modelo/usuario.php) para verificar las credenciales en la base de datos.</a:t>
            </a:r>
            <a:endParaRPr lang="en-US" sz="1750" dirty="0"/>
          </a:p>
        </p:txBody>
      </p:sp>
      <p:sp>
        <p:nvSpPr>
          <p:cNvPr id="15" name="Text 13"/>
          <p:cNvSpPr/>
          <p:nvPr/>
        </p:nvSpPr>
        <p:spPr>
          <a:xfrm>
            <a:off x="793790" y="45569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04</a:t>
            </a:r>
            <a:endParaRPr lang="en-US" sz="1750" dirty="0"/>
          </a:p>
        </p:txBody>
      </p:sp>
      <p:sp>
        <p:nvSpPr>
          <p:cNvPr id="16" name="Shape 14"/>
          <p:cNvSpPr/>
          <p:nvPr/>
        </p:nvSpPr>
        <p:spPr>
          <a:xfrm>
            <a:off x="793790" y="4912043"/>
            <a:ext cx="6407944" cy="30480"/>
          </a:xfrm>
          <a:prstGeom prst="rect">
            <a:avLst/>
          </a:prstGeom>
          <a:solidFill>
            <a:srgbClr val="325F7B"/>
          </a:solidFill>
          <a:ln/>
        </p:spPr>
      </p:sp>
      <p:sp>
        <p:nvSpPr>
          <p:cNvPr id="17" name="Text 15"/>
          <p:cNvSpPr/>
          <p:nvPr/>
        </p:nvSpPr>
        <p:spPr>
          <a:xfrm>
            <a:off x="793790" y="5086350"/>
            <a:ext cx="467927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Modelo consulta la base de datos</a:t>
            </a:r>
            <a:endParaRPr lang="en-US" sz="2200" dirty="0"/>
          </a:p>
        </p:txBody>
      </p:sp>
      <p:sp>
        <p:nvSpPr>
          <p:cNvPr id="18" name="Text 16"/>
          <p:cNvSpPr/>
          <p:nvPr/>
        </p:nvSpPr>
        <p:spPr>
          <a:xfrm>
            <a:off x="793790" y="5576768"/>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Modelo consulta la base de datos mediante la clase Conexion (Modelo/conexion.php).</a:t>
            </a:r>
            <a:endParaRPr lang="en-US" sz="1750" dirty="0"/>
          </a:p>
        </p:txBody>
      </p:sp>
      <p:sp>
        <p:nvSpPr>
          <p:cNvPr id="19" name="Text 17"/>
          <p:cNvSpPr/>
          <p:nvPr/>
        </p:nvSpPr>
        <p:spPr>
          <a:xfrm>
            <a:off x="7428548" y="45569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05</a:t>
            </a:r>
            <a:endParaRPr lang="en-US" sz="1750" dirty="0"/>
          </a:p>
        </p:txBody>
      </p:sp>
      <p:sp>
        <p:nvSpPr>
          <p:cNvPr id="20" name="Shape 18"/>
          <p:cNvSpPr/>
          <p:nvPr/>
        </p:nvSpPr>
        <p:spPr>
          <a:xfrm>
            <a:off x="7428548" y="4912043"/>
            <a:ext cx="6407944" cy="30480"/>
          </a:xfrm>
          <a:prstGeom prst="rect">
            <a:avLst/>
          </a:prstGeom>
          <a:solidFill>
            <a:srgbClr val="325F7B"/>
          </a:solidFill>
          <a:ln/>
        </p:spPr>
      </p:sp>
      <p:sp>
        <p:nvSpPr>
          <p:cNvPr id="21" name="Text 19"/>
          <p:cNvSpPr/>
          <p:nvPr/>
        </p:nvSpPr>
        <p:spPr>
          <a:xfrm>
            <a:off x="7428548" y="5086350"/>
            <a:ext cx="3817620"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Redirección según resultado</a:t>
            </a:r>
            <a:endParaRPr lang="en-US" sz="2200" dirty="0"/>
          </a:p>
        </p:txBody>
      </p:sp>
      <p:sp>
        <p:nvSpPr>
          <p:cNvPr id="22" name="Text 20"/>
          <p:cNvSpPr/>
          <p:nvPr/>
        </p:nvSpPr>
        <p:spPr>
          <a:xfrm>
            <a:off x="7428548" y="5576768"/>
            <a:ext cx="6407944"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Si las credenciales son correctas, el Controlador redirige a la Vista correspondiente (panel_admin.php, panel_profesor.php o panel_alumno.php). Si son incorrectas, se regresa a la Vista de login con un mensaje de error.</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097643"/>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24E73"/>
                </a:solidFill>
                <a:latin typeface="MuseoModerno Medium" pitchFamily="34" charset="0"/>
                <a:ea typeface="MuseoModerno Medium" pitchFamily="34" charset="-122"/>
                <a:cs typeface="MuseoModerno Medium" pitchFamily="34" charset="-120"/>
              </a:rPr>
              <a:t>3. Conclusión</a:t>
            </a:r>
            <a:endParaRPr lang="en-US" sz="3550" dirty="0"/>
          </a:p>
        </p:txBody>
      </p:sp>
      <p:sp>
        <p:nvSpPr>
          <p:cNvPr id="3" name="Text 1"/>
          <p:cNvSpPr/>
          <p:nvPr/>
        </p:nvSpPr>
        <p:spPr>
          <a:xfrm>
            <a:off x="793790" y="3118247"/>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3" pitchFamily="34" charset="0"/>
                <a:ea typeface="Source Sans 3" pitchFamily="34" charset="-122"/>
                <a:cs typeface="Source Sans 3" pitchFamily="34" charset="-120"/>
              </a:rPr>
              <a:t>El patrón MVC ayuda a mantener una estructura clara y organizada en las aplicaciones web. Permite separar las responsabilidades entre los componentes, evitando que la lógica de negocio se mezcle con la interfaz gráfica. En este proyecto PHP, el uso del patrón MVC facilita la escalabilidad del sistema y el mantenimiento futuro del código.</a:t>
            </a:r>
            <a:endParaRPr lang="en-US" sz="1750" dirty="0"/>
          </a:p>
        </p:txBody>
      </p:sp>
      <p:sp>
        <p:nvSpPr>
          <p:cNvPr id="4" name="Shape 2"/>
          <p:cNvSpPr/>
          <p:nvPr/>
        </p:nvSpPr>
        <p:spPr>
          <a:xfrm>
            <a:off x="793790" y="4462105"/>
            <a:ext cx="4196358" cy="1669852"/>
          </a:xfrm>
          <a:prstGeom prst="roundRect">
            <a:avLst>
              <a:gd name="adj" fmla="val 2038"/>
            </a:avLst>
          </a:prstGeom>
          <a:solidFill>
            <a:srgbClr val="325F7B"/>
          </a:solidFill>
          <a:ln/>
        </p:spPr>
      </p:sp>
      <p:sp>
        <p:nvSpPr>
          <p:cNvPr id="5" name="Text 3"/>
          <p:cNvSpPr/>
          <p:nvPr/>
        </p:nvSpPr>
        <p:spPr>
          <a:xfrm>
            <a:off x="1020604" y="4688919"/>
            <a:ext cx="3087053"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Estructura Organizada</a:t>
            </a:r>
            <a:endParaRPr lang="en-US" sz="2200" dirty="0"/>
          </a:p>
        </p:txBody>
      </p:sp>
      <p:sp>
        <p:nvSpPr>
          <p:cNvPr id="6" name="Text 4"/>
          <p:cNvSpPr/>
          <p:nvPr/>
        </p:nvSpPr>
        <p:spPr>
          <a:xfrm>
            <a:off x="1020604" y="5179338"/>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Source Sans 3" pitchFamily="34" charset="0"/>
                <a:ea typeface="Source Sans 3" pitchFamily="34" charset="-122"/>
                <a:cs typeface="Source Sans 3" pitchFamily="34" charset="-120"/>
              </a:rPr>
              <a:t>Mantiene una separación clara entre componentes</a:t>
            </a:r>
            <a:endParaRPr lang="en-US" sz="1750" dirty="0"/>
          </a:p>
        </p:txBody>
      </p:sp>
      <p:sp>
        <p:nvSpPr>
          <p:cNvPr id="7" name="Shape 5"/>
          <p:cNvSpPr/>
          <p:nvPr/>
        </p:nvSpPr>
        <p:spPr>
          <a:xfrm>
            <a:off x="5216962" y="4462105"/>
            <a:ext cx="4196358" cy="1669852"/>
          </a:xfrm>
          <a:prstGeom prst="roundRect">
            <a:avLst>
              <a:gd name="adj" fmla="val 2038"/>
            </a:avLst>
          </a:prstGeom>
          <a:solidFill>
            <a:srgbClr val="51738C"/>
          </a:solidFill>
          <a:ln/>
        </p:spPr>
      </p:sp>
      <p:sp>
        <p:nvSpPr>
          <p:cNvPr id="8" name="Text 6"/>
          <p:cNvSpPr/>
          <p:nvPr/>
        </p:nvSpPr>
        <p:spPr>
          <a:xfrm>
            <a:off x="5443776" y="46889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Fácil Mantenimiento</a:t>
            </a:r>
            <a:endParaRPr lang="en-US" sz="2200" dirty="0"/>
          </a:p>
        </p:txBody>
      </p:sp>
      <p:sp>
        <p:nvSpPr>
          <p:cNvPr id="9" name="Text 7"/>
          <p:cNvSpPr/>
          <p:nvPr/>
        </p:nvSpPr>
        <p:spPr>
          <a:xfrm>
            <a:off x="5443776" y="5179338"/>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Source Sans 3" pitchFamily="34" charset="0"/>
                <a:ea typeface="Source Sans 3" pitchFamily="34" charset="-122"/>
                <a:cs typeface="Source Sans 3" pitchFamily="34" charset="-120"/>
              </a:rPr>
              <a:t>Facilita la escalabilidad y el mantenimiento futuro</a:t>
            </a:r>
            <a:endParaRPr lang="en-US" sz="1750" dirty="0"/>
          </a:p>
        </p:txBody>
      </p:sp>
      <p:sp>
        <p:nvSpPr>
          <p:cNvPr id="10" name="Shape 8"/>
          <p:cNvSpPr/>
          <p:nvPr/>
        </p:nvSpPr>
        <p:spPr>
          <a:xfrm>
            <a:off x="9640133" y="4462105"/>
            <a:ext cx="4196358" cy="1669852"/>
          </a:xfrm>
          <a:prstGeom prst="roundRect">
            <a:avLst>
              <a:gd name="adj" fmla="val 2038"/>
            </a:avLst>
          </a:prstGeom>
          <a:solidFill>
            <a:srgbClr val="325F7B"/>
          </a:solidFill>
          <a:ln/>
        </p:spPr>
      </p:sp>
      <p:sp>
        <p:nvSpPr>
          <p:cNvPr id="11" name="Text 9"/>
          <p:cNvSpPr/>
          <p:nvPr/>
        </p:nvSpPr>
        <p:spPr>
          <a:xfrm>
            <a:off x="9866948" y="46889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Reutilización</a:t>
            </a:r>
            <a:endParaRPr lang="en-US" sz="2200" dirty="0"/>
          </a:p>
        </p:txBody>
      </p:sp>
      <p:sp>
        <p:nvSpPr>
          <p:cNvPr id="12" name="Text 10"/>
          <p:cNvSpPr/>
          <p:nvPr/>
        </p:nvSpPr>
        <p:spPr>
          <a:xfrm>
            <a:off x="9866948" y="5179338"/>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Source Sans 3" pitchFamily="34" charset="0"/>
                <a:ea typeface="Source Sans 3" pitchFamily="34" charset="-122"/>
                <a:cs typeface="Source Sans 3" pitchFamily="34" charset="-120"/>
              </a:rPr>
              <a:t>Promueve la reutilización de componentes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622</Words>
  <Application>Microsoft Office PowerPoint</Application>
  <PresentationFormat>Personalizado</PresentationFormat>
  <Paragraphs>56</Paragraphs>
  <Slides>6</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MuseoModerno Light</vt:lpstr>
      <vt:lpstr>Arial</vt:lpstr>
      <vt:lpstr>MuseoModerno Medium</vt:lpstr>
      <vt:lpstr>Source Sans 3</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Angel Portal</cp:lastModifiedBy>
  <cp:revision>3</cp:revision>
  <dcterms:created xsi:type="dcterms:W3CDTF">2025-10-22T19:02:36Z</dcterms:created>
  <dcterms:modified xsi:type="dcterms:W3CDTF">2025-10-22T21:12:06Z</dcterms:modified>
</cp:coreProperties>
</file>